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media/image1.png" ContentType="image/png"/>
  <Override PartName="/ppt/media/image2.png" ContentType="image/png"/>
  <Override PartName="/ppt/media/image3.wmf" ContentType="image/x-wmf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7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1803240"/>
            <a:ext cx="7314840" cy="18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5932080" y="4323960"/>
            <a:ext cx="2297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914400" y="4323960"/>
            <a:ext cx="4880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6058080" y="1431000"/>
            <a:ext cx="217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6F4FC9-904E-4870-B029-577FD8B6109D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the outline text format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94360" y="4697280"/>
            <a:ext cx="7956000" cy="8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94360" y="977040"/>
            <a:ext cx="7949880" cy="340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94360" y="5516640"/>
            <a:ext cx="7954920" cy="74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4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5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6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F3984E-C981-4275-9B58-0CC4B874ED14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7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94360" y="753480"/>
            <a:ext cx="7954920" cy="280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85800" y="3648960"/>
            <a:ext cx="7772040" cy="133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5562000" y="380880"/>
            <a:ext cx="21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594360" y="380880"/>
            <a:ext cx="4830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7882560" y="380880"/>
            <a:ext cx="666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8DF191-9245-4785-B044-7EEE9D09B697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14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68240" y="753480"/>
            <a:ext cx="7613280" cy="275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977760" y="3509640"/>
            <a:ext cx="7194240" cy="4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85800" y="4174560"/>
            <a:ext cx="7778520" cy="8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0"/>
          </p:nvPr>
        </p:nvSpPr>
        <p:spPr>
          <a:xfrm>
            <a:off x="5562000" y="380880"/>
            <a:ext cx="21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1"/>
          </p:nvPr>
        </p:nvSpPr>
        <p:spPr>
          <a:xfrm>
            <a:off x="594360" y="379440"/>
            <a:ext cx="4830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2"/>
          </p:nvPr>
        </p:nvSpPr>
        <p:spPr>
          <a:xfrm>
            <a:off x="7882560" y="380880"/>
            <a:ext cx="666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D34C77-458A-48B0-9BD9-43BEBB322FD0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TextBox 12"/>
          <p:cNvSpPr/>
          <p:nvPr/>
        </p:nvSpPr>
        <p:spPr>
          <a:xfrm>
            <a:off x="231480" y="80784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“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13"/>
          <p:cNvSpPr/>
          <p:nvPr/>
        </p:nvSpPr>
        <p:spPr>
          <a:xfrm>
            <a:off x="8146800" y="302148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”</a:t>
            </a:r>
            <a:endParaRPr b="0" lang="en-IN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8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1124640"/>
            <a:ext cx="777456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85800" y="3648240"/>
            <a:ext cx="7773120" cy="99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3"/>
          </p:nvPr>
        </p:nvSpPr>
        <p:spPr>
          <a:xfrm>
            <a:off x="5562000" y="378720"/>
            <a:ext cx="21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4"/>
          </p:nvPr>
        </p:nvSpPr>
        <p:spPr>
          <a:xfrm>
            <a:off x="594360" y="378720"/>
            <a:ext cx="4830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5"/>
          </p:nvPr>
        </p:nvSpPr>
        <p:spPr>
          <a:xfrm>
            <a:off x="7882560" y="380880"/>
            <a:ext cx="666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E20CA2-19D8-46FC-B78D-69713422CE04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171880" y="762120"/>
            <a:ext cx="637740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94360" y="2202120"/>
            <a:ext cx="2559960" cy="61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594360" y="2904480"/>
            <a:ext cx="2559960" cy="33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3302280" y="2201400"/>
            <a:ext cx="255996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300840" y="2904120"/>
            <a:ext cx="2559960" cy="335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5989320" y="2192760"/>
            <a:ext cx="255996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5989320" y="2904480"/>
            <a:ext cx="2559960" cy="33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dt" idx="16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9"/>
          <p:cNvSpPr>
            <a:spLocks noGrp="1"/>
          </p:cNvSpPr>
          <p:nvPr>
            <p:ph type="ftr" idx="17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10"/>
          <p:cNvSpPr>
            <a:spLocks noGrp="1"/>
          </p:cNvSpPr>
          <p:nvPr>
            <p:ph type="sldNum" idx="18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B068FD-A69B-4C1C-BC04-63E3BAFAEB0E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Picture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71880" y="762120"/>
            <a:ext cx="638172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94360" y="4113360"/>
            <a:ext cx="2559960" cy="68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94360" y="2331720"/>
            <a:ext cx="2559960" cy="150696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94360" y="4796280"/>
            <a:ext cx="2559960" cy="146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3291840" y="4113360"/>
            <a:ext cx="2559960" cy="68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body"/>
          </p:nvPr>
        </p:nvSpPr>
        <p:spPr>
          <a:xfrm>
            <a:off x="3291840" y="2331720"/>
            <a:ext cx="2559960" cy="150948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body"/>
          </p:nvPr>
        </p:nvSpPr>
        <p:spPr>
          <a:xfrm>
            <a:off x="3290760" y="4796280"/>
            <a:ext cx="2559960" cy="146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body"/>
          </p:nvPr>
        </p:nvSpPr>
        <p:spPr>
          <a:xfrm>
            <a:off x="5993280" y="4113360"/>
            <a:ext cx="2559960" cy="68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0" name="PlaceHolder 9"/>
          <p:cNvSpPr>
            <a:spLocks noGrp="1"/>
          </p:cNvSpPr>
          <p:nvPr>
            <p:ph type="body"/>
          </p:nvPr>
        </p:nvSpPr>
        <p:spPr>
          <a:xfrm>
            <a:off x="5993280" y="2331720"/>
            <a:ext cx="2559960" cy="150840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10"/>
          <p:cNvSpPr>
            <a:spLocks noGrp="1"/>
          </p:cNvSpPr>
          <p:nvPr>
            <p:ph type="body"/>
          </p:nvPr>
        </p:nvSpPr>
        <p:spPr>
          <a:xfrm>
            <a:off x="5993280" y="4796280"/>
            <a:ext cx="2559960" cy="146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11"/>
          <p:cNvSpPr>
            <a:spLocks noGrp="1"/>
          </p:cNvSpPr>
          <p:nvPr>
            <p:ph type="dt" idx="19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12"/>
          <p:cNvSpPr>
            <a:spLocks noGrp="1"/>
          </p:cNvSpPr>
          <p:nvPr>
            <p:ph type="ftr" idx="20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13"/>
          <p:cNvSpPr>
            <a:spLocks noGrp="1"/>
          </p:cNvSpPr>
          <p:nvPr>
            <p:ph type="sldNum" idx="21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669C11-C820-4392-B8C2-7FD247338AA7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171880" y="764280"/>
            <a:ext cx="6377760" cy="12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94360" y="2194560"/>
            <a:ext cx="7954920" cy="40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22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23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24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9E95AC-E1E2-401C-AA25-B505573203C9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7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006680" y="747360"/>
            <a:ext cx="1542600" cy="42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94360" y="746280"/>
            <a:ext cx="6277680" cy="424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25"/>
          </p:nvPr>
        </p:nvSpPr>
        <p:spPr>
          <a:xfrm>
            <a:off x="5562000" y="380880"/>
            <a:ext cx="21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26"/>
          </p:nvPr>
        </p:nvSpPr>
        <p:spPr>
          <a:xfrm>
            <a:off x="594360" y="380880"/>
            <a:ext cx="4830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7"/>
          </p:nvPr>
        </p:nvSpPr>
        <p:spPr>
          <a:xfrm>
            <a:off x="7882560" y="380880"/>
            <a:ext cx="666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2E3B40-6B3A-4F9F-8D78-CDB6E9C8A708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171880" y="764280"/>
            <a:ext cx="6377760" cy="12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94360" y="2194560"/>
            <a:ext cx="7954920" cy="40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28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29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30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8E7DD6-4DEF-4505-8098-482E7D1EA380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8" descr="C3-HD-BTM.png"/>
          <p:cNvPicPr/>
          <p:nvPr/>
        </p:nvPicPr>
        <p:blipFill>
          <a:blip r:embed="rId3"/>
          <a:stretch/>
        </p:blipFill>
        <p:spPr>
          <a:xfrm>
            <a:off x="0" y="4995720"/>
            <a:ext cx="9143640" cy="186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94360" y="753480"/>
            <a:ext cx="7954920" cy="28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94360" y="3641760"/>
            <a:ext cx="7954920" cy="13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31"/>
          </p:nvPr>
        </p:nvSpPr>
        <p:spPr>
          <a:xfrm>
            <a:off x="5562000" y="380880"/>
            <a:ext cx="21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32"/>
          </p:nvPr>
        </p:nvSpPr>
        <p:spPr>
          <a:xfrm>
            <a:off x="594360" y="380880"/>
            <a:ext cx="4830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33"/>
          </p:nvPr>
        </p:nvSpPr>
        <p:spPr>
          <a:xfrm>
            <a:off x="7882560" y="380880"/>
            <a:ext cx="666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0CCE99-0426-4F27-8627-33F056466728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71880" y="764280"/>
            <a:ext cx="6377760" cy="12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594360" y="2194560"/>
            <a:ext cx="3910320" cy="40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42200" y="2194560"/>
            <a:ext cx="3907080" cy="40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34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35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36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68D6D-D9EB-41A4-8AEB-5EB51087D31B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171880" y="762120"/>
            <a:ext cx="6377760" cy="129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21160" y="2183760"/>
            <a:ext cx="3683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94360" y="3132720"/>
            <a:ext cx="3910320" cy="313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869000" y="2183760"/>
            <a:ext cx="36802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4642200" y="3132720"/>
            <a:ext cx="3907080" cy="313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dt" idx="37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ftr" idx="38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8"/>
          <p:cNvSpPr>
            <a:spLocks noGrp="1"/>
          </p:cNvSpPr>
          <p:nvPr>
            <p:ph type="sldNum" idx="39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680ECE-01BC-4F86-877A-D93BD8193B93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171880" y="764280"/>
            <a:ext cx="6377760" cy="12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dt" idx="40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ftr" idx="41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42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34D2A8-F048-44B3-9928-C1D1AE45AD87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dt" idx="43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ftr" idx="44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5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8284EF-19F6-4748-99F5-44A81BC5EC79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94360" y="1523880"/>
            <a:ext cx="3085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886200" y="746640"/>
            <a:ext cx="4663080" cy="551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594360" y="3124080"/>
            <a:ext cx="3085920" cy="313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46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47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sldNum" idx="48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0F5C86-BA90-4216-906C-CE3B72DDB0E7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7" descr="C3-HD-TOP.png"/>
          <p:cNvPicPr/>
          <p:nvPr/>
        </p:nvPicPr>
        <p:blipFill>
          <a:blip r:embed="rId2"/>
          <a:stretch/>
        </p:blipFill>
        <p:spPr>
          <a:xfrm>
            <a:off x="0" y="0"/>
            <a:ext cx="9143640" cy="10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94360" y="1523880"/>
            <a:ext cx="407520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 cap="all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877640" y="751320"/>
            <a:ext cx="3673800" cy="551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94360" y="3124080"/>
            <a:ext cx="4075200" cy="313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dt" idx="49"/>
          </p:nvPr>
        </p:nvSpPr>
        <p:spPr>
          <a:xfrm>
            <a:off x="6412320" y="6356520"/>
            <a:ext cx="2136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&lt;date/time&gt;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ftr" idx="50"/>
          </p:nvPr>
        </p:nvSpPr>
        <p:spPr>
          <a:xfrm>
            <a:off x="594360" y="6355800"/>
            <a:ext cx="5680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sldNum" idx="51"/>
          </p:nvPr>
        </p:nvSpPr>
        <p:spPr>
          <a:xfrm>
            <a:off x="6572160" y="380880"/>
            <a:ext cx="197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E2427C-C8A9-4BED-BCF0-9FB131EFDA8C}" type="slidenum">
              <a:rPr b="0" lang="en-IN" sz="105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&lt;number&gt;</a:t>
            </a:fld>
            <a:endParaRPr b="0" lang="en-IN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11640" y="1556640"/>
            <a:ext cx="7772040" cy="151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WELCOME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11640" y="260640"/>
            <a:ext cx="7903440" cy="142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MEENAAKSHI RAMASAMY ARTS AND SCIENCE COLLEGE - THATHANUR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323640" y="1600200"/>
            <a:ext cx="86407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DEPARTMENT OF COMPUTER SCIENCE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TITLE: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TRANSPARENT SKIN DISEASE CLASSIFICATION USING INTERPRETABLE MACHINE LEARNING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PRESENTED BY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NAME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REGISTER NUMBER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VEERAMANI T                         23053181802111013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            MUGESH S                                </a:t>
            </a: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23053181802111006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           SATHISHKUMAR S                   </a:t>
            </a: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23053181802111010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GUIDE NAME: Mr.S.SURIYAKUMAR M.Sc.,B.Ed.,</a:t>
            </a: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11640" y="2493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REVIEW - I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251640" y="116640"/>
            <a:ext cx="2304000" cy="107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CONTENT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043640" y="1052640"/>
            <a:ext cx="7653240" cy="495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ABSTRACT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SYSTEM ANALYSIS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09800"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- EXISTING SYSTEM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09800"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- PROPOSED SYSTEM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SYSTEM CONFIGURATION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09800"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- HARDWARE REQUIREMENTS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09800"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- SOFTWARE REQUIREMENTS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PROBLEM DESCRIPTION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SYSTEM DESGN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132000" y="0"/>
            <a:ext cx="2736000" cy="10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ABSTRACT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251640" y="1025640"/>
            <a:ext cx="8640720" cy="5475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Integrates interpretable machine learning and lightweight deep learning models for accurate skin disease diagnosis.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Uses feature importance and visualization techniques to improve transparency and clinical trust.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Employs attention mechanisms to identify disease-related regions in skin images effectively.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Achieves high accuracy and efficient segmentation with fewer parameters and post-processing refinement.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Supports ethical, privacy-aware, and scalable computer-aided diagnosis for psoriasis assessment.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55640" y="0"/>
            <a:ext cx="7759440" cy="83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SYSTEM ANALYSIS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251640" y="692640"/>
            <a:ext cx="8434800" cy="60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60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EXISTING SYSTEM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Manual skin disease diagnosis is time consuming and can delay timely treatment.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Diagnostic accuracy depends heavily on dermatologist experience, causing inconsistencies.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Lack of standardization makes it difficult to compare diagnoses across patients.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Limited access to advanced tools and datasets reduces reliable prediction.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7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9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Manual methods fail to detect subtle lesion patterns, increasing misdiagnosis risk.</a:t>
            </a:r>
            <a:endParaRPr b="0" lang="en-US" sz="9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7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7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1064160" y="1556640"/>
            <a:ext cx="7488360" cy="374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Time consuming manual analysis.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Inconsistent and inaccurate diagnoses.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Lack of standardized diagnostic procedures.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Limited ability to detect subtle patterns in lesions.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Dependence on practitioner expertise and experience.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3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1" name="Rectangle 1"/>
          <p:cNvSpPr/>
          <p:nvPr/>
        </p:nvSpPr>
        <p:spPr>
          <a:xfrm>
            <a:off x="899640" y="764640"/>
            <a:ext cx="74883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DRAWBACKS OF EXISTING SYSTEM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/>
          </p:nvPr>
        </p:nvSpPr>
        <p:spPr>
          <a:xfrm>
            <a:off x="683640" y="1061280"/>
            <a:ext cx="7848360" cy="567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Uses a transparent and automated deep learning framework for reliable skin disease diagnosis.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Employs a lightweight attention mechanism to accurately classify multiple skin disorders.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Produces visually interpretable diagnostic reports to support dermatologist decision making.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Enhances lesion segmentation and localization using post processing techniques.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Ensures privacy, ethical compliance, and scalability for real time clinical applications.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3" name="Rectangle 1"/>
          <p:cNvSpPr/>
          <p:nvPr/>
        </p:nvSpPr>
        <p:spPr>
          <a:xfrm>
            <a:off x="1979640" y="476640"/>
            <a:ext cx="51544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IN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PROPOSED SYSTEM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55640" y="365040"/>
            <a:ext cx="7759440" cy="90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2500" lnSpcReduction="19999"/>
          </a:bodyPr>
          <a:p>
            <a:pPr indent="0" algn="ctr" defTabSz="914400">
              <a:lnSpc>
                <a:spcPct val="90000"/>
              </a:lnSpc>
              <a:buNone/>
            </a:pPr>
            <a:br>
              <a:rPr sz="3200"/>
            </a:br>
            <a:r>
              <a:rPr b="1" lang="en-IN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ADVANTAGES OF PROPOSED SYSTEM</a:t>
            </a:r>
            <a:br>
              <a:rPr sz="3200"/>
            </a:b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107640" y="1124640"/>
            <a:ext cx="8568720" cy="56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High predictive accuracy with visually interpretable diagnostic reports.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Enhanced ability to identify subtle patterns in lesions for consistent diagnosis.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Efficient segmentation refinement using post processing techniques.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Integration of privacy and ethical considerations for secure data handling.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Scalable and reliable for real time applications in medical diagnostics.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755640" y="116640"/>
            <a:ext cx="775944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SYSTEM CONFIGURATION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755640" y="548640"/>
            <a:ext cx="8388000" cy="61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09800"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HARDWARE REQUIRMENT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Hard disk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100GB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RAM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4GB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Processor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Dual Core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Monitor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17’’Color Monitor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Keyboard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   :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Standard Keyboard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Mouse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Standard Mouse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109800"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SOFTWARE REQUIRMENT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Front-End                :  HTML, CSS, Java Script, Jupiter Python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Coding Language    :  Python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Operating System   :   Windows 10 64bit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Edition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   Professional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Back End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       :   Dataset, CSV files, JSON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43320" y="397800"/>
            <a:ext cx="7886520" cy="83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PROBLEM DESCRIPTION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43320" y="1253160"/>
            <a:ext cx="7886520" cy="534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09800"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project consists of Four  modules.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MODULES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Support Vector Machines algorithm in image dataset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Process of input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Skin disease image is not detect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Skin disease image is detect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Random Forest algorithm in detecting of skin disease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23640" y="332640"/>
            <a:ext cx="8424720" cy="11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br>
              <a:rPr sz="2400"/>
            </a:br>
            <a:br>
              <a:rPr sz="3200"/>
            </a:br>
            <a:r>
              <a:rPr b="1" lang="en-IN" sz="3200" strike="noStrike" u="none">
                <a:solidFill>
                  <a:schemeClr val="accent1"/>
                </a:solidFill>
                <a:effectLst/>
                <a:uFillTx/>
                <a:latin typeface="Times New Roman"/>
                <a:ea typeface="Calibri"/>
              </a:rPr>
              <a:t>Support Vector Machines Algorithm In Image Dataset</a:t>
            </a:r>
            <a:br>
              <a:rPr sz="2400"/>
            </a:br>
            <a:br>
              <a:rPr sz="3200"/>
            </a:b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413000" y="1340640"/>
            <a:ext cx="6192360" cy="475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Image as dataset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Load dataset to drive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Neural network model with input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Refining  model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Support vecter Machines algorithm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Save the model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67640" y="334800"/>
            <a:ext cx="410400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50000"/>
              </a:lnSpc>
              <a:buNone/>
            </a:pPr>
            <a:r>
              <a:rPr b="1" lang="en-IN" sz="24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Process Of Input Image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1230120" y="796320"/>
            <a:ext cx="7471440" cy="253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Feed the input image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Passing image to model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Compared with dataset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 Predict the disease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4" name="Rectangle 3"/>
          <p:cNvSpPr/>
          <p:nvPr/>
        </p:nvSpPr>
        <p:spPr>
          <a:xfrm>
            <a:off x="442080" y="3213000"/>
            <a:ext cx="44175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IN" sz="24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Skin disease image is not detect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4"/>
          <p:cNvSpPr/>
          <p:nvPr/>
        </p:nvSpPr>
        <p:spPr>
          <a:xfrm>
            <a:off x="1403640" y="3674520"/>
            <a:ext cx="6840360" cy="27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Passing image to model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Comparing the given input image to model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Skin disease image is not detect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Not valid or Valid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-108360" y="144360"/>
            <a:ext cx="5400360" cy="54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50000"/>
              </a:lnSpc>
              <a:buNone/>
            </a:pPr>
            <a:r>
              <a:rPr b="1" lang="en-IN" sz="24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Skin Disease Image Is Detect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908280" y="692640"/>
            <a:ext cx="8056080" cy="322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Passing image to model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Comparing the given input image to model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Skin disease image is detected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Predict skin disease with accuracy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Predict skin disease with accuracy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58" name="Title 1"/>
          <p:cNvSpPr/>
          <p:nvPr/>
        </p:nvSpPr>
        <p:spPr>
          <a:xfrm>
            <a:off x="0" y="3654000"/>
            <a:ext cx="759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685800">
              <a:lnSpc>
                <a:spcPct val="90000"/>
              </a:lnSpc>
            </a:pPr>
            <a:r>
              <a:rPr b="1" lang="en-IN" sz="24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Random Forest algorithm in detecting of skin disease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9"/>
          <p:cNvSpPr/>
          <p:nvPr/>
        </p:nvSpPr>
        <p:spPr>
          <a:xfrm>
            <a:off x="908280" y="4130280"/>
            <a:ext cx="6327720" cy="27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Random Forest algorithm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Ethical Considerations techniques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Skin disease image is detected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Predict skin disease with accuracy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Result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75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SYSTEM DESIGN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161" name="Picture 5" descr=""/>
          <p:cNvPicPr/>
          <p:nvPr/>
        </p:nvPicPr>
        <p:blipFill>
          <a:blip r:embed="rId1"/>
          <a:stretch/>
        </p:blipFill>
        <p:spPr>
          <a:xfrm>
            <a:off x="539640" y="1340640"/>
            <a:ext cx="7886520" cy="504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39640" y="2205000"/>
            <a:ext cx="8229240" cy="171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48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THANK YOU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9000"/>
                <a:lumMod val="110000"/>
              </a:schemeClr>
            </a:gs>
            <a:gs pos="52000">
              <a:schemeClr val="phClr">
                <a:tint val="74000"/>
                <a:lumMod val="104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4000"/>
              </a:schemeClr>
            </a:gs>
            <a:gs pos="78000">
              <a:schemeClr val="phClr">
                <a:shade val="100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448</TotalTime>
  <Application>LibreOffice/25.8.3.2$Windows_X86_64 LibreOffice_project/8ca8d55c161d602844f5428fa4b58097424e324e</Application>
  <AppVersion>15.0000</AppVersion>
  <Words>528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2025-03-08T10:26:04Z</dcterms:created>
  <dc:creator>LIFE-8</dc:creator>
  <dc:description/>
  <dc:language>en-IN</dc:language>
  <cp:lastModifiedBy/>
  <dcterms:modified xsi:type="dcterms:W3CDTF">2026-03-05T19:48:01Z</dcterms:modified>
  <cp:revision>59</cp:revision>
  <dc:subject/>
  <dc:title>WELCOME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16</vt:i4>
  </property>
</Properties>
</file>